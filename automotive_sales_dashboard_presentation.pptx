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67" r:id="rId3"/>
    <p:sldId id="257" r:id="rId4"/>
    <p:sldId id="258" r:id="rId5"/>
    <p:sldId id="265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080" autoAdjust="0"/>
  </p:normalViewPr>
  <p:slideViewPr>
    <p:cSldViewPr snapToGrid="0" snapToObjects="1">
      <p:cViewPr varScale="1">
        <p:scale>
          <a:sx n="89" d="100"/>
          <a:sy n="89" d="100"/>
        </p:scale>
        <p:origin x="12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04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9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189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10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364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8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2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90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2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772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3444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983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774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64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21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6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434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Automotive Sales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Key Insights &amp; Strategic Recommendations</a:t>
            </a:r>
          </a:p>
          <a:p>
            <a:r>
              <a:rPr lang="en-US" dirty="0"/>
              <a:t>Feli-Tech Consult </a:t>
            </a:r>
            <a:r>
              <a:rPr dirty="0"/>
              <a:t>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2B130-559D-9FC4-D632-A005119C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995" y="624110"/>
            <a:ext cx="6951406" cy="1047374"/>
          </a:xfrm>
        </p:spPr>
        <p:txBody>
          <a:bodyPr/>
          <a:lstStyle/>
          <a:p>
            <a:r>
              <a:rPr lang="en-US" dirty="0"/>
              <a:t>Dataset Overview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0B045-F32A-6703-91F5-DE0549219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4" y="1902543"/>
            <a:ext cx="8681885" cy="495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73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Executive S</a:t>
            </a:r>
            <a:r>
              <a:rPr lang="en-US" dirty="0"/>
              <a:t>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dirty="0"/>
              <a:t>Revenue vs Target: $9.76M vs $5M (195% of target)</a:t>
            </a:r>
          </a:p>
          <a:p>
            <a:r>
              <a:rPr dirty="0"/>
              <a:t>Top Countries Contribution: USA 45.4%, France 49.1% (Combined 94.5%)</a:t>
            </a:r>
          </a:p>
          <a:p>
            <a:r>
              <a:rPr dirty="0"/>
              <a:t>Key Takeaway: Strong revenue performance but highly concentrated in two countries.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731BF9-F79D-1AA6-728F-C25328027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" y="2219204"/>
            <a:ext cx="7934325" cy="609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2840" y="616305"/>
            <a:ext cx="6798734" cy="1107840"/>
          </a:xfrm>
        </p:spPr>
        <p:txBody>
          <a:bodyPr>
            <a:normAutofit/>
          </a:bodyPr>
          <a:lstStyle/>
          <a:p>
            <a:r>
              <a:rPr lang="en-US" dirty="0"/>
              <a:t>Geographic Performance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3560" y="1631519"/>
            <a:ext cx="7334529" cy="1033024"/>
          </a:xfrm>
        </p:spPr>
        <p:txBody>
          <a:bodyPr>
            <a:normAutofit/>
          </a:bodyPr>
          <a:lstStyle/>
          <a:p>
            <a:r>
              <a:rPr lang="en-US" dirty="0"/>
              <a:t>Primary regions: North America and Europe drive most revenue.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836CD9-775E-3927-6CCF-AA1272EF2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935" y="3244612"/>
            <a:ext cx="5067202" cy="3155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472A1E-DCA3-442E-2CF5-DB9B121379D7}"/>
              </a:ext>
            </a:extLst>
          </p:cNvPr>
          <p:cNvSpPr txBox="1"/>
          <p:nvPr/>
        </p:nvSpPr>
        <p:spPr>
          <a:xfrm>
            <a:off x="1412840" y="1816772"/>
            <a:ext cx="2018618" cy="62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E78528-C94A-EC8B-8E9F-20BFC6053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41" y="3679756"/>
            <a:ext cx="3722403" cy="20736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CBD1-FA0D-10DB-80C8-B8AC479D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Performance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B18AB-95B6-68DA-12AA-837E6D05CF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Top selling product lines: Classic Cars and Vintage Cars (60%+ of orders).</a:t>
            </a:r>
          </a:p>
          <a:p>
            <a:r>
              <a:rPr lang="en-US" dirty="0"/>
              <a:t>Low volume product lines: Ships and Trains.</a:t>
            </a:r>
          </a:p>
          <a:p>
            <a:r>
              <a:rPr lang="en-US" dirty="0"/>
              <a:t>Revenue peak: $2.2M in July 2019.</a:t>
            </a:r>
          </a:p>
          <a:p>
            <a:r>
              <a:rPr lang="en-US" dirty="0"/>
              <a:t>Operational note: 1.6% dispute spike in Jan 2020.</a:t>
            </a:r>
          </a:p>
          <a:p>
            <a:r>
              <a:rPr lang="en-US" dirty="0"/>
              <a:t>Insight: Classic &amp; Vintage cars dominate but sell below MSRP.</a:t>
            </a:r>
          </a:p>
          <a:p>
            <a:endParaRPr lang="en-GH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396D3A-3251-F934-E0D7-B03C721927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37175" y="2270284"/>
            <a:ext cx="3197225" cy="350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86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Pricing Analysis – MSRP vs Actual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025445"/>
            <a:ext cx="6591985" cy="4601497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All product lines sell below MSRP indicating widespread discounting.</a:t>
            </a:r>
          </a:p>
          <a:p>
            <a:r>
              <a:rPr dirty="0"/>
              <a:t>Largest discounts observed in </a:t>
            </a:r>
            <a:r>
              <a:rPr lang="en-US" dirty="0"/>
              <a:t>Planes</a:t>
            </a:r>
            <a:r>
              <a:rPr dirty="0"/>
              <a:t> and </a:t>
            </a:r>
            <a:r>
              <a:rPr lang="en-US" dirty="0"/>
              <a:t>Ships</a:t>
            </a:r>
            <a:r>
              <a:rPr dirty="0"/>
              <a:t>.</a:t>
            </a:r>
          </a:p>
          <a:p>
            <a:r>
              <a:rPr dirty="0"/>
              <a:t>Smallest discount seen in </a:t>
            </a:r>
            <a:r>
              <a:rPr lang="en-US" dirty="0"/>
              <a:t>Trains</a:t>
            </a:r>
            <a:r>
              <a:rPr dirty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Insight: High sales volume but compressed margins due to pricing strategy.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AA8A91-C69A-B0F5-1216-A37C28E5A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9" y="3213847"/>
            <a:ext cx="6589199" cy="26595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Status &amp; Deal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5332" y="1545301"/>
            <a:ext cx="3701300" cy="4993151"/>
          </a:xfrm>
        </p:spPr>
        <p:txBody>
          <a:bodyPr>
            <a:normAutofit/>
          </a:bodyPr>
          <a:lstStyle/>
          <a:p>
            <a:r>
              <a:rPr dirty="0"/>
              <a:t>Shipped orders account for ~95% of total orders.</a:t>
            </a:r>
          </a:p>
          <a:p>
            <a:r>
              <a:rPr dirty="0"/>
              <a:t>Cancelled / Disputed / On Hold represent ~5%.</a:t>
            </a:r>
          </a:p>
          <a:p>
            <a:r>
              <a:rPr dirty="0"/>
              <a:t>Noticeable dispute spike in January 2020.</a:t>
            </a:r>
          </a:p>
          <a:p>
            <a:r>
              <a:rPr dirty="0"/>
              <a:t>Small deals make up more than 70% of total orders.</a:t>
            </a:r>
          </a:p>
          <a:p>
            <a:r>
              <a:rPr dirty="0"/>
              <a:t>USA and France generate about 95% of revenue.</a:t>
            </a:r>
          </a:p>
          <a:p>
            <a:r>
              <a:rPr dirty="0"/>
              <a:t>Insight: Upsell opportunities exist with small deal segments.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8DDDD2-BF31-6B50-AA4F-C7D853A86F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61945" y="1545300"/>
            <a:ext cx="3480808" cy="46885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Launch targeted campaigns in Spain and Australia to reduce country concentration risk.</a:t>
            </a:r>
          </a:p>
          <a:p>
            <a:r>
              <a:t>Review discount strategies for Motorcycles and Classic Cars to protect margins.</a:t>
            </a:r>
          </a:p>
          <a:p>
            <a:r>
              <a:t>Investigate root cause of January 2020 dispute spike.</a:t>
            </a:r>
          </a:p>
          <a:p>
            <a:r>
              <a:t>Bundle low‑volume items (Ships, Trains) with top sellers to increase turnover.</a:t>
            </a:r>
          </a:p>
          <a:p>
            <a:r>
              <a:t>Monitor Asia and Africa for long‑term growth opportunities.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Thought /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Current performance is strong but fragile.</a:t>
            </a:r>
          </a:p>
          <a:p>
            <a:r>
              <a:t>Strategic diversification and margin optimization are key for sustainable growth.</a:t>
            </a:r>
          </a:p>
          <a:p>
            <a:r>
              <a:t>Next Steps:</a:t>
            </a:r>
          </a:p>
          <a:p>
            <a:r>
              <a:t>Schedule a deep‑dive meeting on discounting policies.</a:t>
            </a:r>
          </a:p>
          <a:p>
            <a:r>
              <a:t>Assign team to analyze dispute causes.</a:t>
            </a:r>
          </a:p>
          <a:p>
            <a:r>
              <a:t>Develop marketing plan for Spain and Australia.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F905B-BAAC-4CB1-680C-DA19B12C9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017" y="195784"/>
            <a:ext cx="6295157" cy="757446"/>
          </a:xfrm>
        </p:spPr>
        <p:txBody>
          <a:bodyPr/>
          <a:lstStyle/>
          <a:p>
            <a:r>
              <a:rPr lang="en-US" dirty="0"/>
              <a:t>Executive Summary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4DDAC-D39D-2E76-F7AC-4B0864E31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124DA-D133-5EDA-C327-C8039D6D7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497"/>
            <a:ext cx="9144000" cy="516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9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47A75-F99D-17DE-F540-C38790F7E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2415" y="306333"/>
            <a:ext cx="6589199" cy="1280890"/>
          </a:xfrm>
        </p:spPr>
        <p:txBody>
          <a:bodyPr/>
          <a:lstStyle/>
          <a:p>
            <a:r>
              <a:rPr lang="en-US" dirty="0"/>
              <a:t>Product Performance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5F85A-5A51-75CC-E698-612FDB9B1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D31B8-E341-8DB5-C900-DC9E797CB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2583"/>
            <a:ext cx="9144000" cy="53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78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F878A-04C8-F912-2B26-F1FE992BB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27" y="354269"/>
            <a:ext cx="7629105" cy="1280890"/>
          </a:xfrm>
        </p:spPr>
        <p:txBody>
          <a:bodyPr/>
          <a:lstStyle/>
          <a:p>
            <a:r>
              <a:rPr lang="en-US" dirty="0"/>
              <a:t>Order Status &amp; Deal Size Analysis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9E494-E4F4-7F17-770A-B67115AD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05F262-F86B-20D6-D69F-AE467F2D0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1700"/>
            <a:ext cx="9144000" cy="513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7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B4983-D66C-A57D-DCD4-D6E7EA77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079" y="420621"/>
            <a:ext cx="6589199" cy="1280890"/>
          </a:xfrm>
        </p:spPr>
        <p:txBody>
          <a:bodyPr/>
          <a:lstStyle/>
          <a:p>
            <a:r>
              <a:rPr lang="en-US" dirty="0"/>
              <a:t>Key Recommendations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19F5E-325C-3472-1EB8-8BE5BE2EA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EECF51-D61E-00D8-0D87-E846E4F02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4166"/>
            <a:ext cx="9144000" cy="515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791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F2BB01-503C-4647-7A0E-B5BE82E16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0" y="2463668"/>
            <a:ext cx="6589200" cy="1280890"/>
          </a:xfrm>
        </p:spPr>
        <p:txBody>
          <a:bodyPr>
            <a:normAutofit/>
          </a:bodyPr>
          <a:lstStyle/>
          <a:p>
            <a:r>
              <a:rPr lang="en-US" sz="6600" b="1" dirty="0"/>
              <a:t>Thank You!!!!</a:t>
            </a:r>
            <a:endParaRPr lang="en-GH" sz="6600" b="1" dirty="0"/>
          </a:p>
        </p:txBody>
      </p:sp>
    </p:spTree>
    <p:extLst>
      <p:ext uri="{BB962C8B-B14F-4D97-AF65-F5344CB8AC3E}">
        <p14:creationId xmlns:p14="http://schemas.microsoft.com/office/powerpoint/2010/main" val="392554394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81</TotalTime>
  <Words>373</Words>
  <Application>Microsoft Office PowerPoint</Application>
  <PresentationFormat>On-screen Show (4:3)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Wisp</vt:lpstr>
      <vt:lpstr>Automotive Sales Analytics Dashboard</vt:lpstr>
      <vt:lpstr>Dataset Overview</vt:lpstr>
      <vt:lpstr>Executive Summary</vt:lpstr>
      <vt:lpstr>Geographic Performance</vt:lpstr>
      <vt:lpstr>Product Performance</vt:lpstr>
      <vt:lpstr>Pricing Analysis – MSRP vs Actual Price</vt:lpstr>
      <vt:lpstr>Order Status &amp; Deal Size</vt:lpstr>
      <vt:lpstr>Strategic Recommendations</vt:lpstr>
      <vt:lpstr>Final Thought / Call to Action</vt:lpstr>
      <vt:lpstr>Executive Summary</vt:lpstr>
      <vt:lpstr>Product Performance</vt:lpstr>
      <vt:lpstr>Order Status &amp; Deal Size Analysis</vt:lpstr>
      <vt:lpstr>Key Recommendations</vt:lpstr>
      <vt:lpstr>Thank You!!!!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Felicity Torgbor</cp:lastModifiedBy>
  <cp:revision>3</cp:revision>
  <dcterms:created xsi:type="dcterms:W3CDTF">2013-01-27T09:14:16Z</dcterms:created>
  <dcterms:modified xsi:type="dcterms:W3CDTF">2026-06-11T11:49:19Z</dcterms:modified>
  <cp:category/>
</cp:coreProperties>
</file>